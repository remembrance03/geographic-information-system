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5" r:id="rId10"/>
    <p:sldId id="269" r:id="rId11"/>
    <p:sldId id="268" r:id="rId12"/>
    <p:sldId id="267" r:id="rId13"/>
    <p:sldId id="270" r:id="rId14"/>
    <p:sldId id="271" r:id="rId15"/>
    <p:sldId id="272" r:id="rId16"/>
    <p:sldId id="273" r:id="rId17"/>
    <p:sldId id="281" r:id="rId18"/>
    <p:sldId id="282" r:id="rId19"/>
    <p:sldId id="274" r:id="rId20"/>
    <p:sldId id="279" r:id="rId21"/>
    <p:sldId id="278" r:id="rId22"/>
    <p:sldId id="280" r:id="rId23"/>
    <p:sldId id="275" r:id="rId24"/>
    <p:sldId id="283" r:id="rId25"/>
    <p:sldId id="276" r:id="rId26"/>
    <p:sldId id="285" r:id="rId27"/>
    <p:sldId id="284" r:id="rId28"/>
    <p:sldId id="25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33CC33"/>
    <a:srgbClr val="FFFF00"/>
    <a:srgbClr val="CC00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80C5-54F9-44B7-81FD-2606A116A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4694" y="2040483"/>
            <a:ext cx="8626764" cy="729674"/>
          </a:xfrm>
          <a:blipFill>
            <a:blip r:embed="rId2">
              <a:alphaModFix amt="20000"/>
            </a:blip>
            <a:tile tx="0" ty="0" sx="100000" sy="100000" flip="none" algn="tl"/>
          </a:blipFill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8AF26-9D6C-48EE-86B6-60D559798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0181" y="3970180"/>
            <a:ext cx="6299200" cy="489854"/>
          </a:xfrm>
          <a:blipFill>
            <a:blip r:embed="rId2">
              <a:alphaModFix amt="20000"/>
            </a:blip>
            <a:tile tx="0" ty="0" sx="100000" sy="100000" flip="none" algn="tl"/>
          </a:blipFill>
        </p:spPr>
        <p:txBody>
          <a:bodyPr/>
          <a:lstStyle>
            <a:lvl1pPr marL="0" indent="0" algn="ctr">
              <a:buNone/>
              <a:defRPr sz="2400">
                <a:solidFill>
                  <a:srgbClr val="0000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0EFE8-C394-4F66-9BCF-76F5C4C09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383A-6D53-44AD-917B-96DD52BE8BB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76E79-9E23-43B1-99B0-981CF9B56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4BD5-3831-4D45-80EC-060D0D27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DBA7-A2D0-46BB-819E-7D4BA789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7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BDA2-E12C-45B5-8FB7-42A9B1E94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F97BD-18EC-42D9-853D-D2EFD9C92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>
                <a:solidFill>
                  <a:srgbClr val="CC006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7821A-A74C-48A3-A814-2343BC6BB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383A-6D53-44AD-917B-96DD52BE8BB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5D90A-BE1C-46FD-A0FA-A11E0432C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6E764-E111-4F5E-B35A-29FD4F39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DBA7-A2D0-46BB-819E-7D4BA789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75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F7F4D-BFE2-4E8B-9051-FA4BCB43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454" y="1709738"/>
            <a:ext cx="983499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40687-BD30-4B60-A058-72F84A5A0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2454" y="4589463"/>
            <a:ext cx="983499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3A117-977C-4348-9C34-F3BFC7049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383A-6D53-44AD-917B-96DD52BE8BB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D7DAA-422A-4441-B3A9-3B125847C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FBD76-E7E6-4E5F-A8AA-7E7DFBB72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DBA7-A2D0-46BB-819E-7D4BA789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1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A58E3-EDB1-41DB-9210-1021337F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75165-699A-4EA4-9135-49F894B467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2454" y="1179046"/>
            <a:ext cx="5181600" cy="49979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78E58-334A-4787-88DD-B04E9A849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38218" y="1179046"/>
            <a:ext cx="4889835" cy="49979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85561-5420-45F4-ADE1-3EB091DB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383A-6D53-44AD-917B-96DD52BE8BB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13EE0-E9E5-4BBB-B6BA-FEA0D6AA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F5B9E-C9FA-443D-9A3B-40E57FEE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DBA7-A2D0-46BB-819E-7D4BA789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9428-7910-4243-A029-F98A9015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454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08952-64CD-4A70-8747-89F71AA93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2454" y="137159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1D6E2-495F-453B-8776-B3E86B5C3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2454" y="2241537"/>
            <a:ext cx="5157787" cy="4038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89683A-5269-4C4F-B1AB-EAF9C009D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44866" y="140663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B64DA5-12E9-4A8E-AEBE-FE3858590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44866" y="2311623"/>
            <a:ext cx="5183188" cy="39686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FC7F5-0F16-4A07-8F46-EF4FC3B2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383A-6D53-44AD-917B-96DD52BE8BB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7F7C3-6D3B-481F-88A7-6779E0AD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758879-8A12-47A4-B2D0-D13A250D9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DBA7-A2D0-46BB-819E-7D4BA789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9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2458-484F-4A97-B45A-F05CA0934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53116-3025-4A52-8AEE-1DE42C081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383A-6D53-44AD-917B-96DD52BE8BB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823811-B84E-497B-B0F2-B65EA19A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C6A34-3A70-422E-BA74-15307F8D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DBA7-A2D0-46BB-819E-7D4BA789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83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9501D-FACA-43EE-9523-E30A8CAC0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383A-6D53-44AD-917B-96DD52BE8BB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D4709D-0F56-43BC-B5A0-BD0E0E14D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FE48B-2178-4A12-A715-4A363523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DBA7-A2D0-46BB-819E-7D4BA789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6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C0A6-517C-49B7-AC8B-4159109E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454" y="452796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62534-1075-4F60-92ED-77A742E39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5854" y="452796"/>
            <a:ext cx="6172200" cy="56737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4022F-6648-4CDF-A0FE-DD8E93A0B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2454" y="2052996"/>
            <a:ext cx="3932237" cy="40814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498A4-75C1-409C-A88C-7F983B29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383A-6D53-44AD-917B-96DD52BE8BB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75951-F8BA-4AD3-8EDE-318E15C9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1D9F5-AC88-4F3C-B6B8-6F1605A1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DBA7-A2D0-46BB-819E-7D4BA789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0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E88A3-72BA-4B9A-8340-AB4C69649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453" y="41787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238559-F480-4899-9D62-D2F8FEA58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5853" y="417872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D92CA-AFA5-4944-A5F0-896BF13A5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2453" y="201807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475F6-10E8-4290-9584-0A16B532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383A-6D53-44AD-917B-96DD52BE8BB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10B0B-F4D7-4A72-AFA8-1DC338E4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B8007-B56F-47F4-AE12-82040DED2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DBA7-A2D0-46BB-819E-7D4BA789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17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6DA96-9694-490A-8412-FEC76B63C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9C47E-F3A6-4919-B9EF-7DBCF09C9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D3518-EA04-40F6-BB38-89705F905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383A-6D53-44AD-917B-96DD52BE8BB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BBCB7-F844-484E-991E-74561C2DC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19E9A-FC99-43DF-A8BF-F8A80F4C1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DBA7-A2D0-46BB-819E-7D4BA789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19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D99437-3D96-4194-90B5-02E5AE182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4896F5-900C-46CF-A2FF-71ABFFBAF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9FB54-C8B0-4F60-8040-DB2BFAD1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383A-6D53-44AD-917B-96DD52BE8BB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0016A-4617-4484-A02B-27EE1BD98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E7D80-3535-4A7C-B000-35352CC5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DBA7-A2D0-46BB-819E-7D4BA7895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0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 amt="2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181543-0D62-493A-AA2B-5792D539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822" y="1"/>
            <a:ext cx="10200026" cy="9045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BADA1-22E9-49B1-8526-6EA6F16CC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7822" y="926792"/>
            <a:ext cx="10609254" cy="5280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E853-A1A3-4458-B71C-5B0B29EFE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3294" y="6280262"/>
            <a:ext cx="17026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FD3383A-6D53-44AD-917B-96DD52BE8BBA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7B2EF-1B16-43D9-BC9F-0E98F3A5A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80621" y="6280262"/>
            <a:ext cx="72562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 b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1. Introduction to Geographic Information System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D1AE5-1CD5-451E-9048-B0F29CBCD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1458" y="6280263"/>
            <a:ext cx="9274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37ADBA7-A2D0-46BB-819E-7D4BA78957F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DE0F2F-AC5B-4BBA-B09B-777FD8D4485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99858" y="5978909"/>
            <a:ext cx="1297679" cy="857988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63147467-84CA-44BC-B441-EBFB430BF08D}"/>
              </a:ext>
            </a:extLst>
          </p:cNvPr>
          <p:cNvSpPr/>
          <p:nvPr userDrawn="1"/>
        </p:nvSpPr>
        <p:spPr>
          <a:xfrm>
            <a:off x="1080596" y="827472"/>
            <a:ext cx="182880" cy="182880"/>
          </a:xfrm>
          <a:prstGeom prst="ellipse">
            <a:avLst/>
          </a:prstGeom>
          <a:solidFill>
            <a:srgbClr val="33CC3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5DAEAC-74E6-4FF9-BBDD-16A9117E9BC1}"/>
              </a:ext>
            </a:extLst>
          </p:cNvPr>
          <p:cNvSpPr/>
          <p:nvPr userDrawn="1"/>
        </p:nvSpPr>
        <p:spPr>
          <a:xfrm>
            <a:off x="1107844" y="561764"/>
            <a:ext cx="137160" cy="137160"/>
          </a:xfrm>
          <a:prstGeom prst="ellipse">
            <a:avLst/>
          </a:prstGeom>
          <a:solidFill>
            <a:srgbClr val="33CC3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B7FBEF5-7592-4E88-8C68-3C6D01F8D8E3}"/>
              </a:ext>
            </a:extLst>
          </p:cNvPr>
          <p:cNvSpPr/>
          <p:nvPr userDrawn="1"/>
        </p:nvSpPr>
        <p:spPr>
          <a:xfrm>
            <a:off x="1135092" y="318578"/>
            <a:ext cx="91440" cy="91440"/>
          </a:xfrm>
          <a:prstGeom prst="ellipse">
            <a:avLst/>
          </a:prstGeom>
          <a:solidFill>
            <a:srgbClr val="33CC3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D582A8-5007-44FC-958E-BF6D886710E5}"/>
              </a:ext>
            </a:extLst>
          </p:cNvPr>
          <p:cNvSpPr/>
          <p:nvPr userDrawn="1"/>
        </p:nvSpPr>
        <p:spPr>
          <a:xfrm>
            <a:off x="1089832" y="6132107"/>
            <a:ext cx="182880" cy="182880"/>
          </a:xfrm>
          <a:prstGeom prst="ellipse">
            <a:avLst/>
          </a:prstGeom>
          <a:solidFill>
            <a:srgbClr val="CC00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7FDD8FD-044F-4D56-B29A-3AAD18F672E6}"/>
              </a:ext>
            </a:extLst>
          </p:cNvPr>
          <p:cNvSpPr/>
          <p:nvPr userDrawn="1"/>
        </p:nvSpPr>
        <p:spPr>
          <a:xfrm>
            <a:off x="1107844" y="6447346"/>
            <a:ext cx="137160" cy="137160"/>
          </a:xfrm>
          <a:prstGeom prst="ellipse">
            <a:avLst/>
          </a:prstGeom>
          <a:solidFill>
            <a:srgbClr val="CC00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A128E9-D0DE-4D9C-A30D-FE43BF7FD19E}"/>
              </a:ext>
            </a:extLst>
          </p:cNvPr>
          <p:cNvSpPr/>
          <p:nvPr userDrawn="1"/>
        </p:nvSpPr>
        <p:spPr>
          <a:xfrm rot="11027661">
            <a:off x="1122931" y="6720252"/>
            <a:ext cx="91440" cy="91440"/>
          </a:xfrm>
          <a:prstGeom prst="ellipse">
            <a:avLst/>
          </a:prstGeom>
          <a:solidFill>
            <a:srgbClr val="CC00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E1B01CD-0CF0-47D3-B65F-22721E750DC7}"/>
              </a:ext>
            </a:extLst>
          </p:cNvPr>
          <p:cNvSpPr/>
          <p:nvPr userDrawn="1"/>
        </p:nvSpPr>
        <p:spPr>
          <a:xfrm>
            <a:off x="11895655" y="6152110"/>
            <a:ext cx="182880" cy="18288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A303F7E-D30B-4671-983A-696321240875}"/>
              </a:ext>
            </a:extLst>
          </p:cNvPr>
          <p:cNvSpPr/>
          <p:nvPr userDrawn="1"/>
        </p:nvSpPr>
        <p:spPr>
          <a:xfrm>
            <a:off x="12093727" y="6048668"/>
            <a:ext cx="91440" cy="9144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8B3070-2D64-4F4C-93E1-181926BD2801}"/>
              </a:ext>
            </a:extLst>
          </p:cNvPr>
          <p:cNvSpPr/>
          <p:nvPr userDrawn="1"/>
        </p:nvSpPr>
        <p:spPr>
          <a:xfrm>
            <a:off x="11905487" y="832844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B4CEF79-5557-405E-97D3-111C2BA7214E}"/>
              </a:ext>
            </a:extLst>
          </p:cNvPr>
          <p:cNvSpPr/>
          <p:nvPr userDrawn="1"/>
        </p:nvSpPr>
        <p:spPr>
          <a:xfrm>
            <a:off x="12112795" y="729402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E82250A-AD79-4B60-B496-49FDB0DF46C1}"/>
              </a:ext>
            </a:extLst>
          </p:cNvPr>
          <p:cNvSpPr/>
          <p:nvPr userDrawn="1"/>
        </p:nvSpPr>
        <p:spPr>
          <a:xfrm>
            <a:off x="12093727" y="6371384"/>
            <a:ext cx="91440" cy="9144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D5510A-9CF8-4853-9F62-9385D5ADF9C3}"/>
              </a:ext>
            </a:extLst>
          </p:cNvPr>
          <p:cNvSpPr/>
          <p:nvPr userDrawn="1"/>
        </p:nvSpPr>
        <p:spPr>
          <a:xfrm>
            <a:off x="12112795" y="1075747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DE1782B-C07C-41AC-8A7C-26EEA0B5A9CC}"/>
              </a:ext>
            </a:extLst>
          </p:cNvPr>
          <p:cNvSpPr/>
          <p:nvPr userDrawn="1"/>
        </p:nvSpPr>
        <p:spPr>
          <a:xfrm>
            <a:off x="1107844" y="1118069"/>
            <a:ext cx="137160" cy="137160"/>
          </a:xfrm>
          <a:prstGeom prst="ellipse">
            <a:avLst/>
          </a:prstGeom>
          <a:solidFill>
            <a:srgbClr val="33CC3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F038648-94FA-4901-8077-E3AD257EF130}"/>
              </a:ext>
            </a:extLst>
          </p:cNvPr>
          <p:cNvSpPr/>
          <p:nvPr userDrawn="1"/>
        </p:nvSpPr>
        <p:spPr>
          <a:xfrm rot="10800000">
            <a:off x="1132125" y="1390514"/>
            <a:ext cx="91440" cy="91440"/>
          </a:xfrm>
          <a:prstGeom prst="ellipse">
            <a:avLst/>
          </a:prstGeom>
          <a:solidFill>
            <a:srgbClr val="33CC3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C406A2A-5487-4B8A-9A82-67A3A0271A27}"/>
              </a:ext>
            </a:extLst>
          </p:cNvPr>
          <p:cNvSpPr/>
          <p:nvPr userDrawn="1"/>
        </p:nvSpPr>
        <p:spPr>
          <a:xfrm>
            <a:off x="1114636" y="5882943"/>
            <a:ext cx="137160" cy="137160"/>
          </a:xfrm>
          <a:prstGeom prst="ellipse">
            <a:avLst/>
          </a:prstGeom>
          <a:solidFill>
            <a:srgbClr val="CC00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7AEB8A4-1A1A-43BF-806D-CD9660BF5A1B}"/>
              </a:ext>
            </a:extLst>
          </p:cNvPr>
          <p:cNvSpPr/>
          <p:nvPr userDrawn="1"/>
        </p:nvSpPr>
        <p:spPr>
          <a:xfrm>
            <a:off x="1141884" y="5639757"/>
            <a:ext cx="91440" cy="91440"/>
          </a:xfrm>
          <a:prstGeom prst="ellipse">
            <a:avLst/>
          </a:prstGeom>
          <a:solidFill>
            <a:srgbClr val="CC00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AC04FF9-48B7-4C0B-BB43-6DF46F9B5233}"/>
              </a:ext>
            </a:extLst>
          </p:cNvPr>
          <p:cNvSpPr/>
          <p:nvPr userDrawn="1"/>
        </p:nvSpPr>
        <p:spPr>
          <a:xfrm>
            <a:off x="1369480" y="850323"/>
            <a:ext cx="137160" cy="137160"/>
          </a:xfrm>
          <a:prstGeom prst="ellipse">
            <a:avLst/>
          </a:prstGeom>
          <a:solidFill>
            <a:srgbClr val="33CC3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F72299B-3B08-4300-99B8-0C75A10872DA}"/>
              </a:ext>
            </a:extLst>
          </p:cNvPr>
          <p:cNvSpPr/>
          <p:nvPr userDrawn="1"/>
        </p:nvSpPr>
        <p:spPr>
          <a:xfrm rot="10800000">
            <a:off x="1618973" y="873183"/>
            <a:ext cx="91440" cy="91440"/>
          </a:xfrm>
          <a:prstGeom prst="ellipse">
            <a:avLst/>
          </a:prstGeom>
          <a:solidFill>
            <a:srgbClr val="33CC3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71B2A9E-9CD1-4AB8-AEF5-8007BCC68F4A}"/>
              </a:ext>
            </a:extLst>
          </p:cNvPr>
          <p:cNvSpPr/>
          <p:nvPr userDrawn="1"/>
        </p:nvSpPr>
        <p:spPr>
          <a:xfrm>
            <a:off x="11641011" y="850323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FA6DE43-BA5B-47F1-AC35-09C80D820EA6}"/>
              </a:ext>
            </a:extLst>
          </p:cNvPr>
          <p:cNvSpPr/>
          <p:nvPr userDrawn="1"/>
        </p:nvSpPr>
        <p:spPr>
          <a:xfrm rot="10800000">
            <a:off x="11413116" y="873183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8986F1-F2AC-4889-A117-33F532576022}"/>
              </a:ext>
            </a:extLst>
          </p:cNvPr>
          <p:cNvSpPr/>
          <p:nvPr userDrawn="1"/>
        </p:nvSpPr>
        <p:spPr>
          <a:xfrm>
            <a:off x="11641011" y="6159774"/>
            <a:ext cx="137160" cy="13716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C75DF5E-A591-4329-8A99-A0A40998CFC6}"/>
              </a:ext>
            </a:extLst>
          </p:cNvPr>
          <p:cNvSpPr/>
          <p:nvPr userDrawn="1"/>
        </p:nvSpPr>
        <p:spPr>
          <a:xfrm rot="10800000">
            <a:off x="11413116" y="6182634"/>
            <a:ext cx="91440" cy="9144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1A260B-D6A1-4CD2-A577-30B7CA1A592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flipH="1">
            <a:off x="1152101" y="21103"/>
            <a:ext cx="45719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8217C7-4CF0-49D8-9E1D-FE9328F4B3B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rot="5400000" flipH="1">
            <a:off x="6557843" y="-4421813"/>
            <a:ext cx="44305" cy="10698480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F14AB73-FF43-4EA5-96C4-2D909D45A8D4}"/>
              </a:ext>
            </a:extLst>
          </p:cNvPr>
          <p:cNvSpPr/>
          <p:nvPr userDrawn="1"/>
        </p:nvSpPr>
        <p:spPr>
          <a:xfrm>
            <a:off x="1369480" y="6159774"/>
            <a:ext cx="137160" cy="137160"/>
          </a:xfrm>
          <a:prstGeom prst="ellipse">
            <a:avLst/>
          </a:prstGeom>
          <a:solidFill>
            <a:srgbClr val="CC00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FF1FCF2-807C-4D42-B44F-6C474742C01F}"/>
              </a:ext>
            </a:extLst>
          </p:cNvPr>
          <p:cNvSpPr/>
          <p:nvPr userDrawn="1"/>
        </p:nvSpPr>
        <p:spPr>
          <a:xfrm rot="10800000">
            <a:off x="1618973" y="6182634"/>
            <a:ext cx="91440" cy="91440"/>
          </a:xfrm>
          <a:prstGeom prst="ellipse">
            <a:avLst/>
          </a:prstGeom>
          <a:solidFill>
            <a:srgbClr val="CC006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D1F923-6319-4E3A-8673-4428FBD969AA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rot="5400000" flipH="1">
            <a:off x="6586515" y="886720"/>
            <a:ext cx="44490" cy="10698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E6F3CE-3E57-425C-88FB-8B60A05B92A2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1168518" y="-87625"/>
            <a:ext cx="1219306" cy="871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C9A8E7-848F-822D-AD0A-92590172631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697"/>
          <a:stretch>
            <a:fillRect/>
          </a:stretch>
        </p:blipFill>
        <p:spPr>
          <a:xfrm>
            <a:off x="45718" y="4542142"/>
            <a:ext cx="1076689" cy="15979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F3C0BF-672E-CB65-D0C2-420013134023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172" y="-21803"/>
            <a:ext cx="1125876" cy="11296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45167D-09B7-ACBF-68E6-715B0D7C902A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223" y="1226027"/>
            <a:ext cx="758250" cy="33956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C552106-F91B-1248-41DD-451DCFECD805}"/>
              </a:ext>
            </a:extLst>
          </p:cNvPr>
          <p:cNvSpPr/>
          <p:nvPr userDrawn="1"/>
        </p:nvSpPr>
        <p:spPr>
          <a:xfrm>
            <a:off x="569167" y="1931437"/>
            <a:ext cx="177282" cy="2060460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4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C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0000FF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00B05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FF0066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A70A-6478-4C73-8794-C2649E1E1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7381" y="1091682"/>
            <a:ext cx="8784762" cy="1598852"/>
          </a:xfrm>
          <a:blipFill dpi="0" rotWithShape="1">
            <a:blip r:embed="rId2">
              <a:alphaModFix amt="35000"/>
            </a:blip>
            <a:srcRect/>
            <a:tile tx="0" ty="0" sx="100000" sy="100000" flip="none" algn="tl"/>
          </a:blipFill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Course: BSc CSIT</a:t>
            </a:r>
            <a:br>
              <a:rPr lang="en-US" sz="3200" dirty="0"/>
            </a:br>
            <a:r>
              <a:rPr lang="en-US" sz="2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Madan Bhandari Memorial College</a:t>
            </a:r>
            <a:br>
              <a:rPr lang="en-US" sz="3200" dirty="0"/>
            </a:br>
            <a:r>
              <a:rPr lang="en-US" sz="4300" dirty="0"/>
              <a:t>Geographic Information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9036F-3136-45E3-973B-25A4FAE7622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383087" y="5147036"/>
            <a:ext cx="5529056" cy="967793"/>
          </a:xfrm>
          <a:blipFill>
            <a:blip r:embed="rId2">
              <a:alphaModFix amt="20000"/>
            </a:blip>
            <a:tile tx="0" ty="0" sx="100000" sy="100000" flip="none" algn="tl"/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>
            <a:normAutofit/>
          </a:bodyPr>
          <a:lstStyle/>
          <a:p>
            <a:pPr marL="0" indent="0" algn="r">
              <a:spcAft>
                <a:spcPts val="1200"/>
              </a:spcAft>
              <a:buNone/>
            </a:pPr>
            <a:r>
              <a:rPr lang="en-US" sz="4300" dirty="0"/>
              <a:t>CSC482 Unit-1 Class 3</a:t>
            </a:r>
          </a:p>
          <a:p>
            <a:pPr algn="r"/>
            <a:endParaRPr lang="en-US" dirty="0">
              <a:latin typeface="Preeti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17404-C4F2-1B38-6AD7-C85DA69174BE}"/>
              </a:ext>
            </a:extLst>
          </p:cNvPr>
          <p:cNvSpPr/>
          <p:nvPr/>
        </p:nvSpPr>
        <p:spPr>
          <a:xfrm>
            <a:off x="8607332" y="5630933"/>
            <a:ext cx="21820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cap="none" spc="0" dirty="0" err="1">
                <a:ln/>
                <a:solidFill>
                  <a:schemeClr val="accent3"/>
                </a:solidFill>
                <a:effectLst/>
                <a:latin typeface="Preeti" pitchFamily="2" charset="0"/>
              </a:rPr>
              <a:t>Dfw</a:t>
            </a:r>
            <a:r>
              <a:rPr lang="en-US" sz="2800" b="1" cap="none" spc="0" dirty="0">
                <a:ln/>
                <a:solidFill>
                  <a:schemeClr val="accent3"/>
                </a:solidFill>
                <a:effectLst/>
                <a:latin typeface="Preeti" pitchFamily="2" charset="0"/>
              </a:rPr>
              <a:t>' ;'</a:t>
            </a:r>
            <a:r>
              <a:rPr lang="en-US" sz="2800" b="1" cap="none" spc="0" dirty="0" err="1">
                <a:ln/>
                <a:solidFill>
                  <a:schemeClr val="accent3"/>
                </a:solidFill>
                <a:effectLst/>
                <a:latin typeface="Preeti" pitchFamily="2" charset="0"/>
              </a:rPr>
              <a:t>bg</a:t>
            </a:r>
            <a:r>
              <a:rPr lang="en-US" sz="2800" b="1" cap="none" spc="0" dirty="0">
                <a:ln/>
                <a:solidFill>
                  <a:schemeClr val="accent3"/>
                </a:solidFill>
                <a:effectLst/>
                <a:latin typeface="Preeti" pitchFamily="2" charset="0"/>
              </a:rPr>
              <a:t> </a:t>
            </a:r>
            <a:r>
              <a:rPr lang="en-US" sz="2800" b="1" cap="none" spc="0" dirty="0" err="1">
                <a:ln/>
                <a:solidFill>
                  <a:schemeClr val="accent3"/>
                </a:solidFill>
                <a:effectLst/>
                <a:latin typeface="Preeti" pitchFamily="2" charset="0"/>
              </a:rPr>
              <a:t>clwsf</a:t>
            </a:r>
            <a:r>
              <a:rPr lang="en-US" sz="2800" b="1" cap="none" spc="0" dirty="0">
                <a:ln/>
                <a:solidFill>
                  <a:schemeClr val="accent3"/>
                </a:solidFill>
                <a:effectLst/>
                <a:latin typeface="Preeti" pitchFamily="2" charset="0"/>
              </a:rPr>
              <a:t>/L</a:t>
            </a:r>
            <a:endParaRPr lang="en-US" sz="28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4F74451-EEF1-9F5D-BC75-25FD083C786E}"/>
              </a:ext>
            </a:extLst>
          </p:cNvPr>
          <p:cNvSpPr txBox="1">
            <a:spLocks/>
          </p:cNvSpPr>
          <p:nvPr/>
        </p:nvSpPr>
        <p:spPr>
          <a:xfrm>
            <a:off x="2127381" y="3044279"/>
            <a:ext cx="8784762" cy="76944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4000" b="1" i="0" kern="12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anose="03010101010201010101" pitchFamily="66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History of GIS and Geospatial Technology</a:t>
            </a:r>
          </a:p>
        </p:txBody>
      </p:sp>
    </p:spTree>
    <p:extLst>
      <p:ext uri="{BB962C8B-B14F-4D97-AF65-F5344CB8AC3E}">
        <p14:creationId xmlns:p14="http://schemas.microsoft.com/office/powerpoint/2010/main" val="3179576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3E7F3-FD74-D271-9142-C45D4537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208A7-0F73-4817-5C28-71FFCFA04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Beginnings of Spatial Analysis</a:t>
            </a:r>
          </a:p>
          <a:p>
            <a:r>
              <a:rPr lang="en-US" dirty="0"/>
              <a:t>Birth of Modern GIS </a:t>
            </a:r>
          </a:p>
          <a:p>
            <a:r>
              <a:rPr lang="en-US" dirty="0"/>
              <a:t>The First GIS </a:t>
            </a:r>
          </a:p>
          <a:p>
            <a:r>
              <a:rPr lang="en-US" dirty="0"/>
              <a:t>Developments in Geospatial Technology (1960s–70s)</a:t>
            </a:r>
          </a:p>
          <a:p>
            <a:r>
              <a:rPr lang="en-US" dirty="0"/>
              <a:t>Commercial GIS Software and Personal Computers (1980s)</a:t>
            </a:r>
          </a:p>
          <a:p>
            <a:r>
              <a:rPr lang="en-US" dirty="0"/>
              <a:t>GIS Goes Mainstream (1990s)</a:t>
            </a:r>
          </a:p>
          <a:p>
            <a:r>
              <a:rPr lang="en-US" dirty="0"/>
              <a:t>The Age of Web GIS and Global Applications (2000s)</a:t>
            </a:r>
          </a:p>
          <a:p>
            <a:r>
              <a:rPr lang="en-US" dirty="0"/>
              <a:t>Mobility, Big Data, and Real-Time GIS (2010s-Present)</a:t>
            </a:r>
          </a:p>
          <a:p>
            <a:r>
              <a:rPr lang="en-US" dirty="0"/>
              <a:t>History of GIS in Nepal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347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8036D-5206-1631-0BD2-BC5224BE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Beginnings of Spatial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66924-12E5-4FFC-C875-8242A1727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22" y="926792"/>
            <a:ext cx="6331982" cy="5280044"/>
          </a:xfrm>
        </p:spPr>
        <p:txBody>
          <a:bodyPr>
            <a:normAutofit/>
          </a:bodyPr>
          <a:lstStyle/>
          <a:p>
            <a:r>
              <a:rPr lang="en-US" dirty="0"/>
              <a:t>Charles Picquet's 1832 Cholera Map</a:t>
            </a:r>
          </a:p>
          <a:p>
            <a:r>
              <a:rPr lang="en-US" dirty="0"/>
              <a:t>Used halftone gradients to show cholera intensity across 48 Paris districts.</a:t>
            </a:r>
          </a:p>
          <a:p>
            <a:r>
              <a:rPr lang="en-US" dirty="0"/>
              <a:t>First recorded use of spatial analysis in epidemiology</a:t>
            </a:r>
          </a:p>
          <a:p>
            <a:r>
              <a:rPr lang="fr-FR" dirty="0" err="1"/>
              <a:t>Published</a:t>
            </a:r>
            <a:r>
              <a:rPr lang="fr-FR" dirty="0"/>
              <a:t> in the report </a:t>
            </a:r>
            <a:r>
              <a:rPr lang="fr-FR" i="1" dirty="0">
                <a:solidFill>
                  <a:srgbClr val="0000FF"/>
                </a:solidFill>
              </a:rPr>
              <a:t>Rapport sur la marche et les effets du choléra-morbus dans Paris</a:t>
            </a:r>
          </a:p>
          <a:p>
            <a:pPr marL="0" indent="0">
              <a:buNone/>
            </a:pPr>
            <a:r>
              <a:rPr lang="fr-FR" i="1" dirty="0">
                <a:solidFill>
                  <a:srgbClr val="0000FF"/>
                </a:solidFill>
              </a:rPr>
              <a:t>(</a:t>
            </a:r>
            <a:r>
              <a:rPr lang="en-US" dirty="0"/>
              <a:t>Report on the spread and effects of cholera morbus in Paris</a:t>
            </a:r>
            <a:r>
              <a:rPr lang="en-US" i="1" dirty="0">
                <a:solidFill>
                  <a:srgbClr val="0000FF"/>
                </a:solidFill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FFA706-A5CE-C1FC-25B3-A2C80ADE6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079" y="926792"/>
            <a:ext cx="4071998" cy="540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5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8036D-5206-1631-0BD2-BC5224BE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Beginnings of Spatial Analysis…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66924-12E5-4FFC-C875-8242A1727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22" y="926792"/>
            <a:ext cx="8114129" cy="136853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Dr. John Snow's 1854 Cholera Map</a:t>
            </a:r>
          </a:p>
          <a:p>
            <a:r>
              <a:rPr lang="en-US" dirty="0"/>
              <a:t>Mapped cholera deaths in London around a contaminated water pump.</a:t>
            </a:r>
          </a:p>
          <a:p>
            <a:r>
              <a:rPr lang="en-US" dirty="0"/>
              <a:t>Introduced layered spatial thinking using paper maps.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5DB0FA-E832-FB40-58AD-127675911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598" y="511829"/>
            <a:ext cx="1619250" cy="16192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BA3A5A-B606-BD06-8FC0-9282AD200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955" y="2209979"/>
            <a:ext cx="5094903" cy="3464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BB63CB-63D3-7500-DA06-839670285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58" y="2181427"/>
            <a:ext cx="4959466" cy="35216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87F9FE-C690-0312-9E62-FBD6B96E4B1F}"/>
              </a:ext>
            </a:extLst>
          </p:cNvPr>
          <p:cNvSpPr txBox="1"/>
          <p:nvPr/>
        </p:nvSpPr>
        <p:spPr>
          <a:xfrm>
            <a:off x="1276955" y="5731617"/>
            <a:ext cx="99803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Dr. John Snow’s 1854 cholera map of London, showing cholera deaths </a:t>
            </a:r>
            <a:r>
              <a:rPr lang="en-US" dirty="0"/>
              <a:t>(black bars) </a:t>
            </a:r>
            <a:r>
              <a:rPr lang="en-US" dirty="0">
                <a:solidFill>
                  <a:srgbClr val="0000FF"/>
                </a:solidFill>
              </a:rPr>
              <a:t>clustered around a contaminated water pump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(red dot). </a:t>
            </a:r>
            <a:r>
              <a:rPr lang="en-US" dirty="0">
                <a:solidFill>
                  <a:srgbClr val="0000FF"/>
                </a:solidFill>
              </a:rPr>
              <a:t>By mapping the locations of deaths and water sources, Snow was able to pinpoint the Broad Street pump as the source of the outbreak.</a:t>
            </a:r>
          </a:p>
        </p:txBody>
      </p:sp>
    </p:spTree>
    <p:extLst>
      <p:ext uri="{BB962C8B-B14F-4D97-AF65-F5344CB8AC3E}">
        <p14:creationId xmlns:p14="http://schemas.microsoft.com/office/powerpoint/2010/main" val="804383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99022-BAEC-22C4-992F-D2A71B9B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Birth of Modern GIS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A2B33-C1F7-11F7-6280-3400F6E67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22" y="926792"/>
            <a:ext cx="10609254" cy="152715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Before 1960: The GIS Dark Ages because nothing had been developed in Computer mapping </a:t>
            </a:r>
          </a:p>
          <a:p>
            <a:r>
              <a:rPr lang="en-US" dirty="0"/>
              <a:t>All mapping was done on paper or sieve mapping. </a:t>
            </a:r>
          </a:p>
          <a:p>
            <a:r>
              <a:rPr lang="en-US" dirty="0"/>
              <a:t>Sieve mapping uses transparent layers on light tables to identify areas of overlap.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0D372E-CC44-5666-1B5C-9D75E4A3992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53404" y="2274798"/>
            <a:ext cx="5037541" cy="40768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21481A-4804-6866-594A-CA647B47D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598" y="2274798"/>
            <a:ext cx="5778030" cy="365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49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60DB-18EA-E0A0-8443-0AC9E0D8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Birth of Modern GIS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A2572-A353-4C54-8A67-E60EE75A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Paper maps posed major challenges: </a:t>
            </a:r>
          </a:p>
          <a:p>
            <a:pPr lvl="1"/>
            <a:r>
              <a:rPr lang="en-US" dirty="0"/>
              <a:t>calculating areas was nearly impossible, </a:t>
            </a:r>
          </a:p>
          <a:p>
            <a:pPr lvl="1"/>
            <a:r>
              <a:rPr lang="en-US" dirty="0"/>
              <a:t>data was often coarse and inaccurate, </a:t>
            </a:r>
          </a:p>
          <a:p>
            <a:pPr lvl="1"/>
            <a:r>
              <a:rPr lang="en-US" dirty="0"/>
              <a:t>measuring distances was tedious. </a:t>
            </a:r>
          </a:p>
          <a:p>
            <a:r>
              <a:rPr lang="en-US" dirty="0"/>
              <a:t>These limitations drove to seek digital alternatives</a:t>
            </a:r>
          </a:p>
          <a:p>
            <a:r>
              <a:rPr lang="en-US" dirty="0"/>
              <a:t>cartographers and spatial analysts shifted to computer-based mapping </a:t>
            </a:r>
          </a:p>
          <a:p>
            <a:r>
              <a:rPr lang="en-US" dirty="0"/>
              <a:t>a pivotal step in the evolution of GIS.</a:t>
            </a:r>
          </a:p>
        </p:txBody>
      </p:sp>
    </p:spTree>
    <p:extLst>
      <p:ext uri="{BB962C8B-B14F-4D97-AF65-F5344CB8AC3E}">
        <p14:creationId xmlns:p14="http://schemas.microsoft.com/office/powerpoint/2010/main" val="4285444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FB73-E590-40AC-CB38-682DAAEF7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GIS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DE30D-DD00-92C3-3908-10C55DCED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1960s the first computer-based GIS was launched in Ottawa, Canada</a:t>
            </a:r>
          </a:p>
          <a:p>
            <a:r>
              <a:rPr lang="en-US" dirty="0"/>
              <a:t>Canadian geographer Dr. Roger Tomlinson, developed the first version of a computerized GIS in 1963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Canada Geographic Information System (CGIS)</a:t>
            </a:r>
          </a:p>
          <a:p>
            <a:r>
              <a:rPr lang="en-US" dirty="0"/>
              <a:t>Developed for land inventory.</a:t>
            </a:r>
          </a:p>
          <a:p>
            <a:r>
              <a:rPr lang="en-US" dirty="0"/>
              <a:t>Overlay concept introduced digitally.</a:t>
            </a:r>
          </a:p>
          <a:p>
            <a:r>
              <a:rPr lang="en-US" dirty="0"/>
              <a:t>First true GIS platform.</a:t>
            </a:r>
          </a:p>
          <a:p>
            <a:r>
              <a:rPr lang="en-US" dirty="0"/>
              <a:t>Roger Tomlinson – the father of GIS</a:t>
            </a:r>
          </a:p>
        </p:txBody>
      </p:sp>
    </p:spTree>
    <p:extLst>
      <p:ext uri="{BB962C8B-B14F-4D97-AF65-F5344CB8AC3E}">
        <p14:creationId xmlns:p14="http://schemas.microsoft.com/office/powerpoint/2010/main" val="4288343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A2BF-E137-EB75-4D43-31623C5B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Father of GIS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75460-8CC9-6180-8F50-186D054FA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E72AC-8DCC-DDFF-4A8F-DBF44BBE6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444" y="966296"/>
            <a:ext cx="8160782" cy="52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369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5E705-06BE-4BF1-9F38-35ABD939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432" y="111969"/>
            <a:ext cx="10898156" cy="814823"/>
          </a:xfrm>
        </p:spPr>
        <p:txBody>
          <a:bodyPr>
            <a:normAutofit fontScale="90000"/>
          </a:bodyPr>
          <a:lstStyle/>
          <a:p>
            <a:r>
              <a:rPr lang="en-US" dirty="0"/>
              <a:t>Developments in Geospatial Technology (1960s–70s)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3875B-8C0D-619C-647C-FBA43EB1D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 October 1957, launch of Sputnik-1 by USSR was the beginning of space age, the early seed of RS</a:t>
            </a:r>
          </a:p>
          <a:p>
            <a:r>
              <a:rPr lang="en-US" dirty="0"/>
              <a:t>Television and Infrared Observation Satellite (TIROS), was launched on 1 April 1960 by the United States</a:t>
            </a:r>
          </a:p>
          <a:p>
            <a:r>
              <a:rPr lang="en-US" dirty="0"/>
              <a:t>The late 60s and early 70s saw parallel advances that fed into GIS.</a:t>
            </a:r>
          </a:p>
          <a:p>
            <a:r>
              <a:rPr lang="en-US" dirty="0"/>
              <a:t> The first multi-spectral photography from space took place during the 1968 Apollo-9 mission</a:t>
            </a:r>
          </a:p>
        </p:txBody>
      </p:sp>
    </p:spTree>
    <p:extLst>
      <p:ext uri="{BB962C8B-B14F-4D97-AF65-F5344CB8AC3E}">
        <p14:creationId xmlns:p14="http://schemas.microsoft.com/office/powerpoint/2010/main" val="4166015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5E705-06BE-4BF1-9F38-35ABD939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432" y="111969"/>
            <a:ext cx="10898156" cy="814823"/>
          </a:xfrm>
        </p:spPr>
        <p:txBody>
          <a:bodyPr>
            <a:normAutofit fontScale="90000"/>
          </a:bodyPr>
          <a:lstStyle/>
          <a:p>
            <a:r>
              <a:rPr lang="en-US" dirty="0"/>
              <a:t>Developments in Geospatial Technology (1960s–70s)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3875B-8C0D-619C-647C-FBA43EB1D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Relational </a:t>
            </a:r>
            <a:r>
              <a:rPr lang="en-US" dirty="0"/>
              <a:t>database model proposed by Edgar Codd (1970) enabled structured attribute data storage</a:t>
            </a:r>
          </a:p>
          <a:p>
            <a:r>
              <a:rPr lang="en-US" dirty="0"/>
              <a:t>Early Database Management Systems (DBMS) supported efficient GIS data management</a:t>
            </a:r>
          </a:p>
          <a:p>
            <a:r>
              <a:rPr lang="en-US" dirty="0"/>
              <a:t>Launch of Landsat 1 (1972) marked the beginning of satellite-based remote sensing</a:t>
            </a:r>
          </a:p>
          <a:p>
            <a:r>
              <a:rPr lang="en-US" dirty="0"/>
              <a:t>With the launch of </a:t>
            </a:r>
            <a:r>
              <a:rPr lang="en-US" dirty="0" err="1"/>
              <a:t>Seasat</a:t>
            </a:r>
            <a:r>
              <a:rPr lang="en-US" dirty="0"/>
              <a:t> on 26 June 1978 by the NASA, the world </a:t>
            </a:r>
            <a:r>
              <a:rPr lang="en-US"/>
              <a:t>entered an era </a:t>
            </a:r>
            <a:r>
              <a:rPr lang="en-US" dirty="0"/>
              <a:t>of satellite-borne radar remote sensing. </a:t>
            </a:r>
          </a:p>
          <a:p>
            <a:r>
              <a:rPr lang="en-US" dirty="0" err="1"/>
              <a:t>Seasat</a:t>
            </a:r>
            <a:r>
              <a:rPr lang="en-US" dirty="0"/>
              <a:t> was the first civil synthetic aperture radar (SAR) satellite</a:t>
            </a:r>
          </a:p>
        </p:txBody>
      </p:sp>
    </p:spTree>
    <p:extLst>
      <p:ext uri="{BB962C8B-B14F-4D97-AF65-F5344CB8AC3E}">
        <p14:creationId xmlns:p14="http://schemas.microsoft.com/office/powerpoint/2010/main" val="132956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5E705-06BE-4BF1-9F38-35ABD939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432" y="111969"/>
            <a:ext cx="10898156" cy="814823"/>
          </a:xfrm>
        </p:spPr>
        <p:txBody>
          <a:bodyPr>
            <a:normAutofit fontScale="90000"/>
          </a:bodyPr>
          <a:lstStyle/>
          <a:p>
            <a:r>
              <a:rPr lang="en-US" dirty="0"/>
              <a:t>Developments in Geospatial Technology (1960s–70s)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3875B-8C0D-619C-647C-FBA43EB1D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U.S. military-initiated development of the Global Positioning System (GPS)</a:t>
            </a:r>
          </a:p>
          <a:p>
            <a:r>
              <a:rPr lang="en-US" dirty="0"/>
              <a:t>GIS, remote sensing, and GPS together formed the basis of modern geospatial technology</a:t>
            </a:r>
          </a:p>
          <a:p>
            <a:r>
              <a:rPr lang="en-US" dirty="0"/>
              <a:t>U.S. Census Bureau developed  Dual Independent Map Encoding (DIME) system to digitize census maps</a:t>
            </a:r>
          </a:p>
          <a:p>
            <a:r>
              <a:rPr lang="en-US" dirty="0"/>
              <a:t>USDA began applying GIS for soil mapping and land resource analysis</a:t>
            </a:r>
          </a:p>
        </p:txBody>
      </p:sp>
    </p:spTree>
    <p:extLst>
      <p:ext uri="{BB962C8B-B14F-4D97-AF65-F5344CB8AC3E}">
        <p14:creationId xmlns:p14="http://schemas.microsoft.com/office/powerpoint/2010/main" val="3969202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7CA1C-A488-7FF7-C190-37CE1E71F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Commercial GIS Software and Personal Computers (Late 1970s–1980s)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000BB-B37A-CEEC-5514-318220F4A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Early Advancements in GIS Software</a:t>
            </a:r>
          </a:p>
          <a:p>
            <a:pPr lvl="1"/>
            <a:r>
              <a:rPr lang="en-US" dirty="0"/>
              <a:t>Governments saw the potential of digital mapping, influencing Harvard Laboratory for Computer Graphics.</a:t>
            </a:r>
          </a:p>
          <a:p>
            <a:pPr lvl="1"/>
            <a:r>
              <a:rPr lang="en-US" dirty="0"/>
              <a:t>Mid-1970s: Harvard developed ODYSSEY GIS, the first vector-based GIS.</a:t>
            </a:r>
          </a:p>
          <a:p>
            <a:pPr lvl="1"/>
            <a:r>
              <a:rPr lang="en-US" dirty="0"/>
              <a:t>Esri’s ARC/INFO built upon ODYSSEY’s framework, leading to GIS software commercialization.</a:t>
            </a:r>
          </a:p>
          <a:p>
            <a:r>
              <a:rPr lang="en-US" dirty="0"/>
              <a:t>Rise of GIS Software Products (Late 1970s–1980s)</a:t>
            </a:r>
          </a:p>
          <a:p>
            <a:pPr lvl="1"/>
            <a:r>
              <a:rPr lang="en-US" dirty="0"/>
              <a:t>Hardware improvements (memory &amp; graphics) enabled new GIS tools:</a:t>
            </a:r>
          </a:p>
          <a:p>
            <a:pPr lvl="2"/>
            <a:r>
              <a:rPr lang="en-US" dirty="0"/>
              <a:t>Examples: GIMMS, MAPICS, SURFACE, GRID, IMGRID, GEOMAP.</a:t>
            </a:r>
          </a:p>
          <a:p>
            <a:pPr lvl="1"/>
            <a:r>
              <a:rPr lang="en-US" dirty="0"/>
              <a:t>Late 1980s: Growing variety of GIS vendors entered the market.</a:t>
            </a:r>
          </a:p>
          <a:p>
            <a:r>
              <a:rPr lang="en-US" dirty="0"/>
              <a:t>Esri's Key Role in GIS History</a:t>
            </a:r>
          </a:p>
          <a:p>
            <a:pPr lvl="1"/>
            <a:r>
              <a:rPr lang="en-US" dirty="0"/>
              <a:t>1982: Esri launched ARC/INFO for minicomputers.</a:t>
            </a:r>
          </a:p>
          <a:p>
            <a:pPr lvl="1"/>
            <a:r>
              <a:rPr lang="en-US" dirty="0"/>
              <a:t>1986: Released PC ARC/INFO for Intel </a:t>
            </a:r>
            <a:r>
              <a:rPr lang="en-US" dirty="0" err="1"/>
              <a:t>microcomputers.Today</a:t>
            </a:r>
            <a:r>
              <a:rPr lang="en-US" dirty="0"/>
              <a:t>, Esri is the world’s largest and most influential GIS software company.</a:t>
            </a:r>
          </a:p>
        </p:txBody>
      </p:sp>
    </p:spTree>
    <p:extLst>
      <p:ext uri="{BB962C8B-B14F-4D97-AF65-F5344CB8AC3E}">
        <p14:creationId xmlns:p14="http://schemas.microsoft.com/office/powerpoint/2010/main" val="1431575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CFA7-0154-B2E7-DD01-E941FAEE3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Community, Conferences, and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BC271-04CB-A71E-E02B-5CD718371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First UK GIS meeting: 1975 – small academic gathering.</a:t>
            </a:r>
          </a:p>
          <a:p>
            <a:r>
              <a:rPr lang="en-US" dirty="0"/>
              <a:t>First Esri User Conference: 1981 – only 18 attendees.</a:t>
            </a:r>
          </a:p>
          <a:p>
            <a:r>
              <a:rPr lang="en-US" dirty="0"/>
              <a:t>GIS consultancies and communities began forming.</a:t>
            </a:r>
          </a:p>
          <a:p>
            <a:r>
              <a:rPr lang="en-US" dirty="0"/>
              <a:t>Michel Paradis introduced the term “Geomatics” in the 1980s to unify spatial disciplines.</a:t>
            </a:r>
          </a:p>
          <a:p>
            <a:r>
              <a:rPr lang="en-US" dirty="0"/>
              <a:t>In the 1980s, the term “Geographic Information Science” (</a:t>
            </a:r>
            <a:r>
              <a:rPr lang="en-US" dirty="0" err="1"/>
              <a:t>GIScience</a:t>
            </a:r>
            <a:r>
              <a:rPr lang="en-US" dirty="0"/>
              <a:t>) was introduced (by Michael Goodchild and others) </a:t>
            </a:r>
          </a:p>
          <a:p>
            <a:r>
              <a:rPr lang="en-US" dirty="0"/>
              <a:t>Tomlinson is also widely credited with coining the term Geographic Information System</a:t>
            </a:r>
          </a:p>
          <a:p>
            <a:r>
              <a:rPr lang="en-US" dirty="0"/>
              <a:t>His article, A Geographic Information System for Regional Planning, published in 1968, is the “The first known published use of the term Geographic Information System in August 1968.”</a:t>
            </a:r>
          </a:p>
        </p:txBody>
      </p:sp>
    </p:spTree>
    <p:extLst>
      <p:ext uri="{BB962C8B-B14F-4D97-AF65-F5344CB8AC3E}">
        <p14:creationId xmlns:p14="http://schemas.microsoft.com/office/powerpoint/2010/main" val="3245804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C9DE-5277-AC84-D0A0-BFDDD78B8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GIS Goes Mainstream (1990s)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F40E5-4FF8-F2CD-B257-CBC822C57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GIS adopted widely across government, academia, and industry.</a:t>
            </a:r>
          </a:p>
          <a:p>
            <a:r>
              <a:rPr lang="en-US" dirty="0"/>
              <a:t>Graphical User Interfaces (GUIs) made GIS more user-friendly.</a:t>
            </a:r>
          </a:p>
          <a:p>
            <a:pPr lvl="1"/>
            <a:r>
              <a:rPr lang="en-US" dirty="0"/>
              <a:t>Example: ArcView GIS launched in 1993 with iconic GUI.</a:t>
            </a:r>
          </a:p>
          <a:p>
            <a:r>
              <a:rPr lang="en-US" dirty="0"/>
              <a:t>Explosion of digital spatial data:</a:t>
            </a:r>
          </a:p>
          <a:p>
            <a:pPr lvl="1"/>
            <a:r>
              <a:rPr lang="en-US" dirty="0"/>
              <a:t>USGS released digital elevation models (DEMs).</a:t>
            </a:r>
          </a:p>
          <a:p>
            <a:pPr lvl="1"/>
            <a:r>
              <a:rPr lang="en-US" dirty="0"/>
              <a:t>Governments provided digital census and TIGER files for streets.</a:t>
            </a:r>
          </a:p>
          <a:p>
            <a:r>
              <a:rPr lang="en-US" dirty="0"/>
              <a:t>GIS began to be taught as a distinct university subject.</a:t>
            </a:r>
          </a:p>
        </p:txBody>
      </p:sp>
    </p:spTree>
    <p:extLst>
      <p:ext uri="{BB962C8B-B14F-4D97-AF65-F5344CB8AC3E}">
        <p14:creationId xmlns:p14="http://schemas.microsoft.com/office/powerpoint/2010/main" val="2179767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C9DE-5277-AC84-D0A0-BFDDD78B8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GIS Goes Mainstream (1990s)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F40E5-4FF8-F2CD-B257-CBC822C57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Internet </a:t>
            </a:r>
            <a:r>
              <a:rPr lang="en-US" dirty="0"/>
              <a:t>era began shaping GIS:</a:t>
            </a:r>
          </a:p>
          <a:p>
            <a:pPr lvl="1"/>
            <a:r>
              <a:rPr lang="en-US" dirty="0"/>
              <a:t>Early web mapping tools like MapQuest (1996) emerged.</a:t>
            </a:r>
          </a:p>
          <a:p>
            <a:r>
              <a:rPr lang="en-US" dirty="0"/>
              <a:t>Integration with GPS and remote sensing increased:</a:t>
            </a:r>
          </a:p>
          <a:p>
            <a:pPr lvl="1"/>
            <a:r>
              <a:rPr lang="en-US" dirty="0"/>
              <a:t>Field data and satellite images could be imported and analyzed.</a:t>
            </a:r>
          </a:p>
          <a:p>
            <a:r>
              <a:rPr lang="en-US" dirty="0"/>
              <a:t>GIS became critical in sectors like:</a:t>
            </a:r>
          </a:p>
          <a:p>
            <a:pPr lvl="1"/>
            <a:r>
              <a:rPr lang="en-US" dirty="0"/>
              <a:t>Urban planning, environmental management,</a:t>
            </a:r>
          </a:p>
          <a:p>
            <a:pPr lvl="1"/>
            <a:r>
              <a:rPr lang="en-US" dirty="0"/>
              <a:t>Defense, </a:t>
            </a:r>
          </a:p>
          <a:p>
            <a:pPr lvl="1"/>
            <a:r>
              <a:rPr lang="en-US"/>
              <a:t>public </a:t>
            </a:r>
            <a:r>
              <a:rPr lang="en-US" dirty="0"/>
              <a:t>health, and more.</a:t>
            </a:r>
          </a:p>
        </p:txBody>
      </p:sp>
    </p:spTree>
    <p:extLst>
      <p:ext uri="{BB962C8B-B14F-4D97-AF65-F5344CB8AC3E}">
        <p14:creationId xmlns:p14="http://schemas.microsoft.com/office/powerpoint/2010/main" val="2015805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3259-62E4-E80A-652F-B7CADB1E6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The Age of Web GIS and Global Applications (2000s)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5234-462C-2570-BFEE-9A562F75D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🌐 Public Web Mapping Tools</a:t>
            </a:r>
          </a:p>
          <a:p>
            <a:pPr lvl="1"/>
            <a:r>
              <a:rPr lang="en-US" dirty="0"/>
              <a:t>2005: Launch of Google Maps and Google Earth revolutionized public access to GIS.</a:t>
            </a:r>
          </a:p>
          <a:p>
            <a:pPr lvl="1"/>
            <a:r>
              <a:rPr lang="en-US" dirty="0"/>
              <a:t>Introduced APIs, Street View, mobile integration, and real-time navigation.</a:t>
            </a:r>
          </a:p>
          <a:p>
            <a:pPr lvl="1"/>
            <a:r>
              <a:rPr lang="en-US" dirty="0"/>
              <a:t>Microsoft Bing Maps (Virtual Earth) and Yahoo Maps entered the scene.</a:t>
            </a:r>
          </a:p>
          <a:p>
            <a:pPr lvl="1"/>
            <a:r>
              <a:rPr lang="en-US" dirty="0"/>
              <a:t>OpenStreetMap (2004): Crowdsourced global map project grew rapidly by 2007–08.</a:t>
            </a:r>
          </a:p>
          <a:p>
            <a:r>
              <a:rPr lang="en-US" dirty="0"/>
              <a:t>📶 Internet Infrastructure &amp; Web Standards</a:t>
            </a:r>
          </a:p>
          <a:p>
            <a:pPr lvl="1"/>
            <a:r>
              <a:rPr lang="en-US" dirty="0"/>
              <a:t>Web 2.0 and AJAX enabled fast, interactive online maps.</a:t>
            </a:r>
          </a:p>
          <a:p>
            <a:pPr lvl="1"/>
            <a:r>
              <a:rPr lang="en-US" dirty="0"/>
              <a:t>Rise of cloud computing (e.g., AWS 2006) supported large-scale GIS hosting.</a:t>
            </a:r>
          </a:p>
          <a:p>
            <a:pPr lvl="1"/>
            <a:r>
              <a:rPr lang="en-US" dirty="0"/>
              <a:t>OGC standards (WMS, WFS) allowed GIS systems to share maps/data over the web.</a:t>
            </a:r>
          </a:p>
          <a:p>
            <a:pPr lvl="1"/>
            <a:r>
              <a:rPr lang="en-US" dirty="0"/>
              <a:t>Map tiling and JavaScript APIs became the new norm for GIS delivery.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84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3259-62E4-E80A-652F-B7CADB1E6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The Age of Web GIS and Global Applications (2000s)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5234-462C-2570-BFEE-9A562F75D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🗂️ Spatial Data Infrastructure &amp; Open Data</a:t>
            </a:r>
          </a:p>
          <a:p>
            <a:pPr lvl="1"/>
            <a:r>
              <a:rPr lang="en-US" dirty="0"/>
              <a:t>Dozens of countries built national SDIs and geoportals (e.g., US, India, EU).</a:t>
            </a:r>
          </a:p>
          <a:p>
            <a:pPr lvl="1"/>
            <a:r>
              <a:rPr lang="en-US" dirty="0"/>
              <a:t>The INSPIRE Directive (2007) unified spatial data in the EU.</a:t>
            </a:r>
          </a:p>
          <a:p>
            <a:pPr lvl="1"/>
            <a:r>
              <a:rPr lang="en-US" dirty="0"/>
              <a:t>Data.gov (2009) in the US led global open government data trends.</a:t>
            </a:r>
          </a:p>
          <a:p>
            <a:pPr lvl="1"/>
            <a:r>
              <a:rPr lang="en-US" dirty="0"/>
              <a:t>NGOs, NASA, and citizen groups released large volumes of open spatial datasets.</a:t>
            </a:r>
          </a:p>
          <a:p>
            <a:r>
              <a:rPr lang="en-US" dirty="0"/>
              <a:t>🧰 Evolution of Professional GIS Platforms</a:t>
            </a:r>
          </a:p>
          <a:p>
            <a:pPr lvl="1"/>
            <a:r>
              <a:rPr lang="en-US" dirty="0"/>
              <a:t>Esri ArcGIS 8 &amp; 9 integrated desktop, server, and web GIS.</a:t>
            </a:r>
          </a:p>
          <a:p>
            <a:pPr lvl="1"/>
            <a:r>
              <a:rPr lang="en-US" dirty="0" err="1"/>
              <a:t>ArcIMS</a:t>
            </a:r>
            <a:r>
              <a:rPr lang="en-US" dirty="0"/>
              <a:t>, ArcGIS Server, and APIs enabled enterprise and online mapping.</a:t>
            </a:r>
          </a:p>
          <a:p>
            <a:pPr lvl="1"/>
            <a:r>
              <a:rPr lang="en-US" dirty="0"/>
              <a:t>QGIS (2002–2009): Open-source alternative matured with v1.0 in 2009.</a:t>
            </a:r>
          </a:p>
          <a:p>
            <a:pPr lvl="1"/>
            <a:r>
              <a:rPr lang="en-US" dirty="0"/>
              <a:t>Other tools: </a:t>
            </a:r>
            <a:r>
              <a:rPr lang="en-US" dirty="0" err="1"/>
              <a:t>MapServer</a:t>
            </a:r>
            <a:r>
              <a:rPr lang="en-US" dirty="0"/>
              <a:t>, </a:t>
            </a:r>
            <a:r>
              <a:rPr lang="en-US" dirty="0" err="1"/>
              <a:t>GeoServer</a:t>
            </a:r>
            <a:r>
              <a:rPr lang="en-US" dirty="0"/>
              <a:t>, </a:t>
            </a:r>
            <a:r>
              <a:rPr lang="en-US" dirty="0" err="1"/>
              <a:t>MapGuide</a:t>
            </a:r>
            <a:r>
              <a:rPr lang="en-US" dirty="0"/>
              <a:t> OS, and GRASS.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25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3259-62E4-E80A-652F-B7CADB1E6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The Age of Web GIS and Global Applications (2000s)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5234-462C-2570-BFEE-9A562F75D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🌐 Geoportals &amp; Clearinghouses</a:t>
            </a:r>
          </a:p>
          <a:p>
            <a:pPr lvl="1"/>
            <a:r>
              <a:rPr lang="en-US" dirty="0"/>
              <a:t>Governments launched public map portals (e.g., GeoBase Canada, INSPIRE EU).</a:t>
            </a:r>
          </a:p>
          <a:p>
            <a:pPr lvl="1"/>
            <a:r>
              <a:rPr lang="en-US" dirty="0"/>
              <a:t>Metadata clearinghouses enabled GIS dataset discovery across agencies.</a:t>
            </a:r>
          </a:p>
          <a:p>
            <a:pPr lvl="1"/>
            <a:r>
              <a:rPr lang="en-US" dirty="0"/>
              <a:t>Regional/global platforms (e.g., UN, World Bank, ESA) expanded access.</a:t>
            </a:r>
          </a:p>
          <a:p>
            <a:r>
              <a:rPr lang="en-US" dirty="0"/>
              <a:t>🌱 GIS Adoption Across Sectors</a:t>
            </a:r>
          </a:p>
          <a:p>
            <a:pPr lvl="1"/>
            <a:r>
              <a:rPr lang="en-US" dirty="0"/>
              <a:t>Agriculture: Precision farming with GPS-guided equipment, soil/crop mapping.</a:t>
            </a:r>
          </a:p>
          <a:p>
            <a:pPr lvl="1"/>
            <a:r>
              <a:rPr lang="en-US" dirty="0"/>
              <a:t>Health: WHO’s Malaria Atlas Project, vaccination targeting, outbreak mapping.</a:t>
            </a:r>
          </a:p>
          <a:p>
            <a:pPr lvl="1"/>
            <a:r>
              <a:rPr lang="en-US" dirty="0"/>
              <a:t>Disasters: NASA-USAID SERVIR hubs launched for flood/fire monitoring in Asia &amp; Africa.</a:t>
            </a:r>
          </a:p>
          <a:p>
            <a:pPr lvl="1"/>
            <a:r>
              <a:rPr lang="en-US" dirty="0"/>
              <a:t>Humanitarian GIS: Crisis mapping (e.g., Haiti 2010 via OpenStreetMap) saved lives.</a:t>
            </a:r>
          </a:p>
          <a:p>
            <a:pPr lvl="1"/>
            <a:r>
              <a:rPr lang="en-US" dirty="0"/>
              <a:t>Logistics: GIS used by FedEx, UPS, governments for route planning, asset tracking.</a:t>
            </a:r>
          </a:p>
        </p:txBody>
      </p:sp>
    </p:spTree>
    <p:extLst>
      <p:ext uri="{BB962C8B-B14F-4D97-AF65-F5344CB8AC3E}">
        <p14:creationId xmlns:p14="http://schemas.microsoft.com/office/powerpoint/2010/main" val="1767884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B6F6-6541-4EFC-0CF3-BD7DF033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Mobility, Big Data, and Real-Time GIS (2010s-Present)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F3A36-5398-BDF1-ACB1-EFB14E8FF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Mobile GIS Revolution</a:t>
            </a:r>
          </a:p>
          <a:p>
            <a:pPr lvl="1"/>
            <a:r>
              <a:rPr lang="en-US" dirty="0"/>
              <a:t>Smartphones and apps brought GIS to the palm of public.</a:t>
            </a:r>
          </a:p>
          <a:p>
            <a:pPr lvl="1"/>
            <a:r>
              <a:rPr lang="en-US" dirty="0"/>
              <a:t>Field data collection, navigation, ride-sharing, delivery tracking,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Location-based social media and services became mainstream.</a:t>
            </a:r>
          </a:p>
          <a:p>
            <a:r>
              <a:rPr lang="en-US" dirty="0"/>
              <a:t>Big Data &amp; IoT Integration</a:t>
            </a:r>
          </a:p>
          <a:p>
            <a:pPr lvl="1"/>
            <a:r>
              <a:rPr lang="en-US" dirty="0"/>
              <a:t>GIS now processes massive, real-time datasets.</a:t>
            </a:r>
          </a:p>
          <a:p>
            <a:pPr lvl="1"/>
            <a:r>
              <a:rPr lang="en-US" dirty="0"/>
              <a:t>Millions of live location feeds from sensors, vehicles, devices.</a:t>
            </a:r>
          </a:p>
          <a:p>
            <a:pPr lvl="1"/>
            <a:r>
              <a:rPr lang="en-US" dirty="0"/>
              <a:t>Internet of Things (IoT) generates continuous spatial data streams.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725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B6F6-6541-4EFC-0CF3-BD7DF033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Mobility, Big Data, and Real-Time GIS (2010s-Present)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F3A36-5398-BDF1-ACB1-EFB14E8FF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Cloud-Based GIS Platforms</a:t>
            </a:r>
          </a:p>
          <a:p>
            <a:pPr lvl="1"/>
            <a:r>
              <a:rPr lang="en-US" dirty="0"/>
              <a:t>Platforms like ArcGIS Online &amp; Google Earth Engine enable:</a:t>
            </a:r>
          </a:p>
          <a:p>
            <a:pPr lvl="2"/>
            <a:r>
              <a:rPr lang="en-US" dirty="0"/>
              <a:t>Web-based spatial analysis and visualization.</a:t>
            </a:r>
          </a:p>
          <a:p>
            <a:pPr lvl="2"/>
            <a:r>
              <a:rPr lang="en-US" dirty="0"/>
              <a:t>Global data access and sharing.</a:t>
            </a:r>
          </a:p>
          <a:p>
            <a:pPr lvl="2"/>
            <a:r>
              <a:rPr lang="en-US" dirty="0"/>
              <a:t>Collaborative mapping.</a:t>
            </a:r>
          </a:p>
          <a:p>
            <a:r>
              <a:rPr lang="en-US" dirty="0"/>
              <a:t>3D &amp; Time-Aware GIS</a:t>
            </a:r>
          </a:p>
          <a:p>
            <a:pPr lvl="1"/>
            <a:r>
              <a:rPr lang="en-US" dirty="0"/>
              <a:t>3D GIS allows modeling of buildings, cities, and landscapes.</a:t>
            </a:r>
          </a:p>
          <a:p>
            <a:pPr lvl="1"/>
            <a:r>
              <a:rPr lang="en-US" dirty="0"/>
              <a:t>Integration with BIM (Building Information Modeling).</a:t>
            </a:r>
          </a:p>
          <a:p>
            <a:pPr lvl="1"/>
            <a:r>
              <a:rPr lang="en-US" dirty="0"/>
              <a:t>Time-aware GIS helps analyze changes over time (4D GIS).</a:t>
            </a:r>
          </a:p>
        </p:txBody>
      </p:sp>
    </p:spTree>
    <p:extLst>
      <p:ext uri="{BB962C8B-B14F-4D97-AF65-F5344CB8AC3E}">
        <p14:creationId xmlns:p14="http://schemas.microsoft.com/office/powerpoint/2010/main" val="1934636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B6F6-6541-4EFC-0CF3-BD7DF033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Mobility, Big Data, and Real-Time GIS (2010s-Present)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F3A36-5398-BDF1-ACB1-EFB14E8FF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 Source &amp; Open Data Movement</a:t>
            </a:r>
          </a:p>
          <a:p>
            <a:pPr lvl="1"/>
            <a:r>
              <a:rPr lang="en-US" dirty="0"/>
              <a:t>OpenStreetMap and crowdsourced mapping democratized geospatial data.</a:t>
            </a:r>
          </a:p>
          <a:p>
            <a:pPr lvl="1"/>
            <a:r>
              <a:rPr lang="en-US" dirty="0"/>
              <a:t>Growth of open-source GIS tools </a:t>
            </a:r>
          </a:p>
          <a:p>
            <a:pPr lvl="2"/>
            <a:r>
              <a:rPr lang="en-US" dirty="0"/>
              <a:t>QGIS, </a:t>
            </a:r>
          </a:p>
          <a:p>
            <a:pPr lvl="2"/>
            <a:r>
              <a:rPr lang="en-US" dirty="0" err="1"/>
              <a:t>GeoServer</a:t>
            </a:r>
            <a:r>
              <a:rPr lang="en-US" dirty="0"/>
              <a:t>, </a:t>
            </a:r>
          </a:p>
          <a:p>
            <a:pPr lvl="2"/>
            <a:r>
              <a:rPr lang="en-US" dirty="0" err="1"/>
              <a:t>PostGIS</a:t>
            </a:r>
            <a:endParaRPr lang="en-US" dirty="0"/>
          </a:p>
          <a:p>
            <a:r>
              <a:rPr lang="en-US" dirty="0"/>
              <a:t>Geospatial Technology Ecosystem</a:t>
            </a:r>
          </a:p>
          <a:p>
            <a:pPr lvl="1"/>
            <a:r>
              <a:rPr lang="en-US" dirty="0"/>
              <a:t>Modern GIS integrates:</a:t>
            </a:r>
          </a:p>
          <a:p>
            <a:pPr lvl="2"/>
            <a:r>
              <a:rPr lang="en-US" dirty="0"/>
              <a:t>Mapping &amp; spatial analysis software.</a:t>
            </a:r>
          </a:p>
          <a:p>
            <a:pPr lvl="2"/>
            <a:r>
              <a:rPr lang="en-US" dirty="0"/>
              <a:t>GPS/GNSS positioning systems.</a:t>
            </a:r>
          </a:p>
          <a:p>
            <a:pPr lvl="2"/>
            <a:r>
              <a:rPr lang="en-US" dirty="0"/>
              <a:t>Remote sensing imagery &amp; drones.</a:t>
            </a:r>
          </a:p>
          <a:p>
            <a:pPr lvl="2"/>
            <a:r>
              <a:rPr lang="en-US" dirty="0"/>
              <a:t>Spatial databases &amp; real-time web services.</a:t>
            </a:r>
          </a:p>
          <a:p>
            <a:pPr lvl="1"/>
            <a:r>
              <a:rPr lang="en-US" dirty="0"/>
              <a:t>GIS now serves as a core technology for solving global challenges.</a:t>
            </a:r>
          </a:p>
        </p:txBody>
      </p:sp>
    </p:spTree>
    <p:extLst>
      <p:ext uri="{BB962C8B-B14F-4D97-AF65-F5344CB8AC3E}">
        <p14:creationId xmlns:p14="http://schemas.microsoft.com/office/powerpoint/2010/main" val="1890117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B6F6-6541-4EFC-0CF3-BD7DF033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F3A36-5398-BDF1-ACB1-EFB14E8FF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7384C-342F-5027-6585-D245AEA32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22" y="74645"/>
            <a:ext cx="7360420" cy="58565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3CE5DF-EEC0-9BBF-BDB2-69F720CB5B0B}"/>
              </a:ext>
            </a:extLst>
          </p:cNvPr>
          <p:cNvSpPr/>
          <p:nvPr/>
        </p:nvSpPr>
        <p:spPr>
          <a:xfrm>
            <a:off x="7678996" y="3805083"/>
            <a:ext cx="766914" cy="117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4CCF-1BC1-57B5-E474-A7B7FE154950}"/>
              </a:ext>
            </a:extLst>
          </p:cNvPr>
          <p:cNvSpPr txBox="1"/>
          <p:nvPr/>
        </p:nvSpPr>
        <p:spPr>
          <a:xfrm>
            <a:off x="1197822" y="6288947"/>
            <a:ext cx="10609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https://www.eurekalert.org/multimedia/1062933#:~:text=Caption.%20The%20development%20of%20GIS%20and%20artificial,learning%20and%20big%20data%2Ddriven%20intelligent%20GIS%20(2010%E2%80%932020).</a:t>
            </a:r>
          </a:p>
        </p:txBody>
      </p:sp>
    </p:spTree>
    <p:extLst>
      <p:ext uri="{BB962C8B-B14F-4D97-AF65-F5344CB8AC3E}">
        <p14:creationId xmlns:p14="http://schemas.microsoft.com/office/powerpoint/2010/main" val="822913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79B18-9C12-D652-B130-92A486B7E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GIS in Nepal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5FD01-8BEA-2F54-5827-416024EF3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🛰️ Early Beginnings (Late 1980s – Early 1990s)</a:t>
            </a:r>
          </a:p>
          <a:p>
            <a:pPr lvl="1"/>
            <a:r>
              <a:rPr lang="en-US" dirty="0"/>
              <a:t>Nepal began adopting GIS via internationally assisted mapping projects.</a:t>
            </a:r>
          </a:p>
          <a:p>
            <a:pPr lvl="1"/>
            <a:r>
              <a:rPr lang="en-US" dirty="0"/>
              <a:t>Survey Department (est. 1957) transitioned from analog to digital cartography.</a:t>
            </a:r>
          </a:p>
          <a:p>
            <a:pPr lvl="2"/>
            <a:r>
              <a:rPr lang="en-US" dirty="0"/>
              <a:t>Key partners: </a:t>
            </a:r>
            <a:r>
              <a:rPr lang="en-US" dirty="0" err="1"/>
              <a:t>Finnmap</a:t>
            </a:r>
            <a:r>
              <a:rPr lang="en-US" dirty="0"/>
              <a:t> (Finland) and JICA (Japan).</a:t>
            </a:r>
          </a:p>
          <a:p>
            <a:pPr lvl="1"/>
            <a:r>
              <a:rPr lang="en-US" dirty="0"/>
              <a:t>Early software introduced: ARC/INFO, IDRISI, ERDAS.</a:t>
            </a:r>
          </a:p>
          <a:p>
            <a:pPr lvl="1"/>
            <a:r>
              <a:rPr lang="en-US" dirty="0"/>
              <a:t>Focused on: land-use mapping, watershed management, resource inventories.</a:t>
            </a:r>
          </a:p>
          <a:p>
            <a:pPr lvl="1"/>
            <a:r>
              <a:rPr lang="en-US" dirty="0"/>
              <a:t>Use of Landsat imagery and aerial photos spurred a generation of GIS-trained professionals.</a:t>
            </a:r>
          </a:p>
        </p:txBody>
      </p:sp>
    </p:spTree>
    <p:extLst>
      <p:ext uri="{BB962C8B-B14F-4D97-AF65-F5344CB8AC3E}">
        <p14:creationId xmlns:p14="http://schemas.microsoft.com/office/powerpoint/2010/main" val="329196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79B18-9C12-D652-B130-92A486B7E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GIS in Nepal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5FD01-8BEA-2F54-5827-416024EF3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🏛️ Institutionalization (Mid–Late 1990s)</a:t>
            </a:r>
          </a:p>
          <a:p>
            <a:pPr lvl="1"/>
            <a:r>
              <a:rPr lang="en-US" dirty="0"/>
              <a:t>Establishment of major national GIS units:</a:t>
            </a:r>
          </a:p>
          <a:p>
            <a:pPr lvl="2"/>
            <a:r>
              <a:rPr lang="en-US" dirty="0"/>
              <a:t>National Remote Sensing Centre NRSC under the Department of Forestry promoted GIS.</a:t>
            </a:r>
          </a:p>
          <a:p>
            <a:pPr lvl="2"/>
            <a:r>
              <a:rPr lang="en-US" dirty="0"/>
              <a:t>DFRS produced Nepal’s first digital forest cover maps.</a:t>
            </a:r>
          </a:p>
          <a:p>
            <a:pPr lvl="2"/>
            <a:r>
              <a:rPr lang="en-US" dirty="0"/>
              <a:t>DHM and </a:t>
            </a:r>
            <a:r>
              <a:rPr lang="en-US" dirty="0" err="1"/>
              <a:t>DoI</a:t>
            </a:r>
            <a:r>
              <a:rPr lang="en-US" dirty="0"/>
              <a:t> applied GIS to floods, hydrology, and watershed analysis.</a:t>
            </a:r>
          </a:p>
          <a:p>
            <a:pPr lvl="1"/>
            <a:r>
              <a:rPr lang="en-US" dirty="0"/>
              <a:t>CBS used GIS in census boundary mapping—early socio-economic spatial analysis.</a:t>
            </a:r>
          </a:p>
          <a:p>
            <a:pPr lvl="1"/>
            <a:r>
              <a:rPr lang="en-US" dirty="0"/>
              <a:t>Tribhuvan University introduced GIS/RS in curriculum with UNESCO and ICIMOD support.</a:t>
            </a:r>
          </a:p>
          <a:p>
            <a:pPr lvl="1"/>
            <a:r>
              <a:rPr lang="en-US" dirty="0"/>
              <a:t>Built Nepal’s first generation of GIS professionals.</a:t>
            </a:r>
          </a:p>
        </p:txBody>
      </p:sp>
    </p:spTree>
    <p:extLst>
      <p:ext uri="{BB962C8B-B14F-4D97-AF65-F5344CB8AC3E}">
        <p14:creationId xmlns:p14="http://schemas.microsoft.com/office/powerpoint/2010/main" val="1547791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7CDFB-D89C-8622-ADA6-C647EB76C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GIS in Nepal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6717E-0C3D-99AD-59EF-C423AEE4B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22" y="926792"/>
            <a:ext cx="10609254" cy="5408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🚀 Expansion &amp; Capacity Building (2000s)</a:t>
            </a:r>
          </a:p>
          <a:p>
            <a:pPr lvl="1"/>
            <a:r>
              <a:rPr lang="en-US" dirty="0"/>
              <a:t>Rapid spread of GIS across government, municipalities, and development sectors.</a:t>
            </a:r>
          </a:p>
          <a:p>
            <a:pPr lvl="1"/>
            <a:r>
              <a:rPr lang="en-US" dirty="0"/>
              <a:t>ICIMOD’s MENRIS program delivered data, training, and national support.</a:t>
            </a:r>
          </a:p>
          <a:p>
            <a:pPr lvl="1"/>
            <a:r>
              <a:rPr lang="en-US" dirty="0"/>
              <a:t>Launch of NGIIP project (with Finnish &amp; Japanese aid):</a:t>
            </a:r>
          </a:p>
          <a:p>
            <a:pPr lvl="1"/>
            <a:r>
              <a:rPr lang="en-US" dirty="0"/>
              <a:t>Focused on data standards, metadata, and institutional coordination.</a:t>
            </a:r>
          </a:p>
          <a:p>
            <a:pPr lvl="1"/>
            <a:r>
              <a:rPr lang="en-US" dirty="0"/>
              <a:t>Municipalities adopted GIS for urban planning, zoning, and infrastructure mapping.</a:t>
            </a:r>
          </a:p>
          <a:p>
            <a:pPr lvl="1"/>
            <a:r>
              <a:rPr lang="en-US" dirty="0"/>
              <a:t>Enabled by the Local Self-Governance Act (1999) emphasizing evidence-based planning.</a:t>
            </a:r>
          </a:p>
        </p:txBody>
      </p:sp>
    </p:spTree>
    <p:extLst>
      <p:ext uri="{BB962C8B-B14F-4D97-AF65-F5344CB8AC3E}">
        <p14:creationId xmlns:p14="http://schemas.microsoft.com/office/powerpoint/2010/main" val="204036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7CDFB-D89C-8622-ADA6-C647EB76C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GIS in Nepal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6717E-0C3D-99AD-59EF-C423AEE4B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22" y="926792"/>
            <a:ext cx="10609254" cy="5408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🔗 Modern Phase (2010s–Present)</a:t>
            </a:r>
          </a:p>
          <a:p>
            <a:r>
              <a:rPr lang="en-US" dirty="0"/>
              <a:t>GIS became central to national governance and planning.</a:t>
            </a:r>
          </a:p>
          <a:p>
            <a:r>
              <a:rPr lang="en-US" dirty="0"/>
              <a:t>Institutions like NPC, Survey Dept., DoLMA integrated GIS into:</a:t>
            </a:r>
          </a:p>
          <a:p>
            <a:pPr lvl="1"/>
            <a:r>
              <a:rPr lang="en-US" dirty="0"/>
              <a:t>Land administration, cadastral digitization, spatial monitoring.</a:t>
            </a:r>
          </a:p>
          <a:p>
            <a:r>
              <a:rPr lang="en-US" dirty="0"/>
              <a:t>2015 Gorkha earthquake: GIS used for “crisis mapping” and real-time aid coordination.</a:t>
            </a:r>
          </a:p>
          <a:p>
            <a:pPr lvl="1"/>
            <a:r>
              <a:rPr lang="en-US" dirty="0"/>
              <a:t>Combined OpenStreetMap, field data, and satellite imagery.</a:t>
            </a:r>
          </a:p>
          <a:p>
            <a:r>
              <a:rPr lang="en-US" dirty="0"/>
              <a:t>GIS now supports:</a:t>
            </a:r>
          </a:p>
          <a:p>
            <a:pPr lvl="1"/>
            <a:r>
              <a:rPr lang="en-US" dirty="0"/>
              <a:t>Disaster management (landslides, floods)</a:t>
            </a:r>
          </a:p>
          <a:p>
            <a:pPr lvl="1"/>
            <a:r>
              <a:rPr lang="en-US" dirty="0"/>
              <a:t>Urban development (e.g. Kathmandu)</a:t>
            </a:r>
          </a:p>
          <a:p>
            <a:pPr lvl="1"/>
            <a:r>
              <a:rPr lang="en-US" dirty="0"/>
              <a:t>Cultural heritage preservation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18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7FE7-CDB3-878F-A43B-CC96DEC37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GIS in Nepal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218CD-25F6-AC4C-1EC1-FF2469901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📊 National GIS Initiatives Today</a:t>
            </a:r>
          </a:p>
          <a:p>
            <a:pPr lvl="1"/>
            <a:r>
              <a:rPr lang="en-US" dirty="0"/>
              <a:t>Digital Nepal Framework and DNLAS for land system digitization.</a:t>
            </a:r>
          </a:p>
          <a:p>
            <a:pPr lvl="1"/>
            <a:r>
              <a:rPr lang="en-US" dirty="0"/>
              <a:t>Land Use Plans and Zoning Maps for smart spatial planning.</a:t>
            </a:r>
          </a:p>
          <a:p>
            <a:pPr lvl="1"/>
            <a:r>
              <a:rPr lang="en-US" dirty="0"/>
              <a:t>DRRM systems integrating live hazard data.</a:t>
            </a:r>
          </a:p>
          <a:p>
            <a:pPr lvl="1"/>
            <a:r>
              <a:rPr lang="en-US" dirty="0"/>
              <a:t>Environmental monitoring and climate adaptation with satellite/GIS analytics.</a:t>
            </a:r>
          </a:p>
          <a:p>
            <a:pPr marL="0" indent="0">
              <a:buNone/>
            </a:pPr>
            <a:r>
              <a:rPr lang="en-US" dirty="0"/>
              <a:t>🎓 GIS Education &amp; Research in Nepal</a:t>
            </a:r>
          </a:p>
          <a:p>
            <a:r>
              <a:rPr lang="en-US" dirty="0"/>
              <a:t>GIS is embedded in:</a:t>
            </a:r>
          </a:p>
          <a:p>
            <a:r>
              <a:rPr lang="en-US" dirty="0"/>
              <a:t>Government training centers (Land Management Training Center, Survey Dept., CTEVT)</a:t>
            </a:r>
          </a:p>
          <a:p>
            <a:r>
              <a:rPr lang="en-US" dirty="0"/>
              <a:t>Universities (Tribhuvan, Kathmandu, Pokhara)</a:t>
            </a:r>
          </a:p>
          <a:p>
            <a:r>
              <a:rPr lang="en-US" dirty="0"/>
              <a:t>Regional hubs like ICIMOD continue building national GIS capacity.</a:t>
            </a:r>
          </a:p>
        </p:txBody>
      </p:sp>
    </p:spTree>
    <p:extLst>
      <p:ext uri="{BB962C8B-B14F-4D97-AF65-F5344CB8AC3E}">
        <p14:creationId xmlns:p14="http://schemas.microsoft.com/office/powerpoint/2010/main" val="172857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834-F632-4493-ACE0-2F36CD64C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246574">
            <a:off x="1407485" y="3200401"/>
            <a:ext cx="10784515" cy="90456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29303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ture of Geography" id="{CCBE7BF2-EA8B-4763-905E-EEAE9C827B6D}" vid="{0BAD724B-8F4C-47D4-94D7-91E822E8FE6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Nature of Geography</Template>
  <TotalTime>1891</TotalTime>
  <Words>2181</Words>
  <Application>Microsoft Office PowerPoint</Application>
  <PresentationFormat>Widescreen</PresentationFormat>
  <Paragraphs>214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Preeti</vt:lpstr>
      <vt:lpstr>Times New Roman</vt:lpstr>
      <vt:lpstr>Office Theme</vt:lpstr>
      <vt:lpstr>Course: BSc CSIT Madan Bhandari Memorial College Geographic Information System</vt:lpstr>
      <vt:lpstr>Agenda</vt:lpstr>
      <vt:lpstr>Beginnings of Spatial Analysis</vt:lpstr>
      <vt:lpstr>Beginnings of Spatial Analysis…</vt:lpstr>
      <vt:lpstr>Birth of Modern GIS </vt:lpstr>
      <vt:lpstr>Birth of Modern GIS …</vt:lpstr>
      <vt:lpstr>The First GIS</vt:lpstr>
      <vt:lpstr>Father of GIS</vt:lpstr>
      <vt:lpstr>Developments in Geospatial Technology (1960s–70s)</vt:lpstr>
      <vt:lpstr>Developments in Geospatial Technology (1960s–70s)</vt:lpstr>
      <vt:lpstr>Developments in Geospatial Technology (1960s–70s)</vt:lpstr>
      <vt:lpstr>Commercial GIS Software and Personal Computers (Late 1970s–1980s)</vt:lpstr>
      <vt:lpstr>Community, Conferences, and Terms</vt:lpstr>
      <vt:lpstr>GIS Goes Mainstream (1990s)</vt:lpstr>
      <vt:lpstr>GIS Goes Mainstream (1990s)</vt:lpstr>
      <vt:lpstr>The Age of Web GIS and Global Applications (2000s)</vt:lpstr>
      <vt:lpstr>The Age of Web GIS and Global Applications (2000s)</vt:lpstr>
      <vt:lpstr>The Age of Web GIS and Global Applications (2000s)</vt:lpstr>
      <vt:lpstr>Mobility, Big Data, and Real-Time GIS (2010s-Present)</vt:lpstr>
      <vt:lpstr>Mobility, Big Data, and Real-Time GIS (2010s-Present)</vt:lpstr>
      <vt:lpstr>Mobility, Big Data, and Real-Time GIS (2010s-Present)</vt:lpstr>
      <vt:lpstr>PowerPoint Presentation</vt:lpstr>
      <vt:lpstr>History of GIS in Nepal</vt:lpstr>
      <vt:lpstr>History of GIS in Nepal</vt:lpstr>
      <vt:lpstr>History of GIS in Nepal</vt:lpstr>
      <vt:lpstr>History of GIS in Nepal</vt:lpstr>
      <vt:lpstr>History of GIS in Nepal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Geography Title</dc:title>
  <dc:creator>Madhusudan Adhikari</dc:creator>
  <cp:lastModifiedBy>Madhusudan Adhikari</cp:lastModifiedBy>
  <cp:revision>92</cp:revision>
  <dcterms:created xsi:type="dcterms:W3CDTF">2023-03-27T13:31:58Z</dcterms:created>
  <dcterms:modified xsi:type="dcterms:W3CDTF">2025-11-10T22:27:22Z</dcterms:modified>
</cp:coreProperties>
</file>